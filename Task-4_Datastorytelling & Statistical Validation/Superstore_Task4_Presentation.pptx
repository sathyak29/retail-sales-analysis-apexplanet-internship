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-556" y="-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($K)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484</c:v>
                </c:pt>
                <c:pt idx="1">
                  <c:v>470</c:v>
                </c:pt>
                <c:pt idx="2">
                  <c:v>609</c:v>
                </c:pt>
                <c:pt idx="3">
                  <c:v>733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($K)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49</c:v>
                </c:pt>
                <c:pt idx="1">
                  <c:v>61</c:v>
                </c:pt>
                <c:pt idx="2">
                  <c:v>81</c:v>
                </c:pt>
                <c:pt idx="3">
                  <c:v>93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27310976"/>
        <c:axId val="227341440"/>
      </c:barChart>
      <c:catAx>
        <c:axId val="2273109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27341440"/>
        <c:crosses val="autoZero"/>
        <c:auto val="1"/>
        <c:lblAlgn val="ctr"/>
        <c:lblOffset val="100"/>
        <c:noMultiLvlLbl val="1"/>
      </c:catAx>
      <c:valAx>
        <c:axId val="227341440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27310976"/>
        <c:crosses val="autoZero"/>
        <c:crossBetween val="between"/>
      </c:valAx>
      <c:spPr>
        <a:solidFill>
          <a:srgbClr val="1B2A4A"/>
        </a:solidFill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B2A4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($K)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Office Supplies</c:v>
                </c:pt>
                <c:pt idx="2">
                  <c:v>Furniture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836</c:v>
                </c:pt>
                <c:pt idx="1">
                  <c:v>719</c:v>
                </c:pt>
                <c:pt idx="2">
                  <c:v>742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($K)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Office Supplies</c:v>
                </c:pt>
                <c:pt idx="2">
                  <c:v>Furniture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145</c:v>
                </c:pt>
                <c:pt idx="1">
                  <c:v>122</c:v>
                </c:pt>
                <c:pt idx="2">
                  <c:v>18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45304576"/>
        <c:axId val="145314560"/>
      </c:barChart>
      <c:catAx>
        <c:axId val="1453045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145314560"/>
        <c:crosses val="autoZero"/>
        <c:auto val="1"/>
        <c:lblAlgn val="ctr"/>
        <c:lblOffset val="100"/>
        <c:noMultiLvlLbl val="1"/>
      </c:catAx>
      <c:valAx>
        <c:axId val="145314560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145304576"/>
        <c:crosses val="autoZero"/>
        <c:crossBetween val="between"/>
      </c:valAx>
      <c:spPr>
        <a:solidFill>
          <a:srgbClr val="1B2A4A"/>
        </a:solidFill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B2A4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Profit ($)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 Discount</c:v>
                </c:pt>
                <c:pt idx="1">
                  <c:v>Low (0–20%)</c:v>
                </c:pt>
                <c:pt idx="2">
                  <c:v>Mid (20–40%)</c:v>
                </c:pt>
                <c:pt idx="3">
                  <c:v>High (40–80%)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66.900000000000006</c:v>
                </c:pt>
                <c:pt idx="1">
                  <c:v>26.5</c:v>
                </c:pt>
                <c:pt idx="2">
                  <c:v>-77.86</c:v>
                </c:pt>
                <c:pt idx="3">
                  <c:v>-106.71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29082496"/>
        <c:axId val="129084032"/>
      </c:barChart>
      <c:catAx>
        <c:axId val="1290824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129084032"/>
        <c:crosses val="autoZero"/>
        <c:auto val="1"/>
        <c:lblAlgn val="ctr"/>
        <c:lblOffset val="100"/>
        <c:noMultiLvlLbl val="1"/>
      </c:catAx>
      <c:valAx>
        <c:axId val="12908403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129082496"/>
        <c:crosses val="autoZero"/>
        <c:crossBetween val="between"/>
      </c:valAx>
      <c:spPr>
        <a:solidFill>
          <a:srgbClr val="1B2A4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B2A4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($K)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West</c:v>
                </c:pt>
                <c:pt idx="1">
                  <c:v>East</c:v>
                </c:pt>
                <c:pt idx="2">
                  <c:v>South</c:v>
                </c:pt>
                <c:pt idx="3">
                  <c:v>Central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108</c:v>
                </c:pt>
                <c:pt idx="1">
                  <c:v>92</c:v>
                </c:pt>
                <c:pt idx="2">
                  <c:v>47</c:v>
                </c:pt>
                <c:pt idx="3">
                  <c:v>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Margin (%)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West</c:v>
                </c:pt>
                <c:pt idx="1">
                  <c:v>East</c:v>
                </c:pt>
                <c:pt idx="2">
                  <c:v>South</c:v>
                </c:pt>
                <c:pt idx="3">
                  <c:v>Central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14.9</c:v>
                </c:pt>
                <c:pt idx="1">
                  <c:v>13.5</c:v>
                </c:pt>
                <c:pt idx="2">
                  <c:v>11.9</c:v>
                </c:pt>
                <c:pt idx="3">
                  <c:v>7.9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29198720"/>
        <c:axId val="129216896"/>
      </c:barChart>
      <c:catAx>
        <c:axId val="1291987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129216896"/>
        <c:crosses val="autoZero"/>
        <c:auto val="1"/>
        <c:lblAlgn val="ctr"/>
        <c:lblOffset val="100"/>
        <c:noMultiLvlLbl val="1"/>
      </c:catAx>
      <c:valAx>
        <c:axId val="129216896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129198720"/>
        <c:crosses val="autoZero"/>
        <c:crossBetween val="between"/>
      </c:valAx>
      <c:spPr>
        <a:solidFill>
          <a:srgbClr val="1B2A4A"/>
        </a:solidFill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B2A4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484D45-0131-46AE-BF46-7011457815DA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EC0ABC-D088-4EEC-A922-7D5F3BE7D1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981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64008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457200"/>
            <a:ext cx="2011680" cy="201168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365760"/>
            <a:ext cx="1188720" cy="1188720"/>
          </a:xfrm>
          <a:prstGeom prst="ellipse">
            <a:avLst/>
          </a:prstGeom>
          <a:solidFill>
            <a:srgbClr val="14B8A6">
              <a:alpha val="25000"/>
            </a:srgbClr>
          </a:solidFill>
          <a:ln w="12700">
            <a:solidFill>
              <a:srgbClr val="14B8A6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256032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4592" y="914400"/>
            <a:ext cx="3154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64592" y="269748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 &amp;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64592" y="3611880"/>
            <a:ext cx="3154680" cy="274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" y="370332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 – 2017  |  USA  |  3 Categories  |  4 Regions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4592" y="40690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SATHYA 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977640" y="960120"/>
            <a:ext cx="2377440" cy="1600200"/>
          </a:xfrm>
          <a:prstGeom prst="rect">
            <a:avLst/>
          </a:prstGeom>
          <a:solidFill>
            <a:srgbClr val="1B2A4A"/>
          </a:solidFill>
          <a:ln w="1524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977640" y="960120"/>
            <a:ext cx="23774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77640" y="12344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9,994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977640" y="2057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960120"/>
            <a:ext cx="2377440" cy="1600200"/>
          </a:xfrm>
          <a:prstGeom prst="rect">
            <a:avLst/>
          </a:prstGeom>
          <a:solidFill>
            <a:srgbClr val="1B2A4A"/>
          </a:solidFill>
          <a:ln w="1524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0" y="960120"/>
            <a:ext cx="23774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12344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583680" y="2057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977640" y="2880360"/>
            <a:ext cx="2377440" cy="1600200"/>
          </a:xfrm>
          <a:prstGeom prst="rect">
            <a:avLst/>
          </a:prstGeom>
          <a:solidFill>
            <a:srgbClr val="1B2A4A"/>
          </a:solidFill>
          <a:ln w="1524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977640" y="2880360"/>
            <a:ext cx="23774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77640" y="31546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$2.3M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3977640" y="39776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0" y="2880360"/>
            <a:ext cx="2377440" cy="1600200"/>
          </a:xfrm>
          <a:prstGeom prst="rect">
            <a:avLst/>
          </a:prstGeom>
          <a:solidFill>
            <a:srgbClr val="1B2A4A"/>
          </a:solidFill>
          <a:ln w="1524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0" y="2880360"/>
            <a:ext cx="23774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31546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12.47%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583680" y="39776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538728" y="4736592"/>
            <a:ext cx="5605272" cy="406908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38728" y="4736592"/>
            <a:ext cx="5605272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 —  ApexPlanet 60-Day Data Analytics Internship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732520" y="9144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profitability in the Superstore — and where is value being destroyed?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325880"/>
            <a:ext cx="4160520" cy="1536192"/>
          </a:xfrm>
          <a:prstGeom prst="rect">
            <a:avLst/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325880"/>
            <a:ext cx="64008" cy="15361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" y="1490472"/>
            <a:ext cx="530352" cy="5303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508760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33272" y="146304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Dilemma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33272" y="187452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heavy discounts killing margins despite driving volume?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325880"/>
            <a:ext cx="4160520" cy="1536192"/>
          </a:xfrm>
          <a:prstGeom prst="rect">
            <a:avLst/>
          </a:prstGeom>
          <a:solidFill>
            <a:srgbClr val="1B2A4A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325880"/>
            <a:ext cx="64008" cy="15361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490472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508760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40680" y="146304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Imbalance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40680" y="187452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drives sales but barely generates any profit.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6032" y="3081528"/>
            <a:ext cx="4160520" cy="1536192"/>
          </a:xfrm>
          <a:prstGeom prst="rect">
            <a:avLst/>
          </a:prstGeom>
          <a:solidFill>
            <a:srgbClr val="1B2A4A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3081528"/>
            <a:ext cx="64008" cy="15361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3192" y="3246120"/>
            <a:ext cx="530352" cy="5303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3264408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33272" y="321868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Gaps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33272" y="3630168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region consistently underperforms vs West &amp; East.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3081528"/>
            <a:ext cx="4160520" cy="1536192"/>
          </a:xfrm>
          <a:prstGeom prst="rect">
            <a:avLst/>
          </a:prstGeom>
          <a:solidFill>
            <a:srgbClr val="1B2A4A"/>
          </a:solidFill>
          <a:ln w="1270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081528"/>
            <a:ext cx="64008" cy="15361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3246120"/>
            <a:ext cx="530352" cy="53035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264408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40680" y="321868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vs Efficiency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40680" y="3630168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grew 51% from 2014–2017 — but profit growth tells a different story.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 —  CONSISTENT REVENUE GROWTH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732520" y="9144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grew 51% over 4 years — profit margin improved from 10.2% to 12.7%</a:t>
            </a:r>
            <a:endParaRPr lang="en-US" sz="11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56032" y="1234440"/>
          <a:ext cx="612648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583680" y="1234440"/>
            <a:ext cx="2304288" cy="1024128"/>
          </a:xfrm>
          <a:prstGeom prst="rect">
            <a:avLst/>
          </a:prstGeom>
          <a:solidFill>
            <a:srgbClr val="1B2A4A"/>
          </a:solidFill>
          <a:ln w="1524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0" y="1234440"/>
            <a:ext cx="230428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0" y="1325880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+51%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583680" y="1828800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Growth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2014→2017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583680" y="2423160"/>
            <a:ext cx="2304288" cy="1024128"/>
          </a:xfrm>
          <a:prstGeom prst="rect">
            <a:avLst/>
          </a:prstGeom>
          <a:solidFill>
            <a:srgbClr val="1B2A4A"/>
          </a:solidFill>
          <a:ln w="1524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83680" y="2423160"/>
            <a:ext cx="230428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2514600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+89%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583680" y="3017520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Growth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2014→2017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583680" y="3611880"/>
            <a:ext cx="2304288" cy="1024128"/>
          </a:xfrm>
          <a:prstGeom prst="rect">
            <a:avLst/>
          </a:prstGeom>
          <a:solidFill>
            <a:srgbClr val="1B2A4A"/>
          </a:solidFill>
          <a:ln w="1524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583680" y="3611880"/>
            <a:ext cx="2304288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0" y="3703320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$733K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6583680" y="4206240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Sales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(2017)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56032" y="4709160"/>
            <a:ext cx="8631936" cy="27432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7472" y="4709160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Key Takeaway: Superstore is on a healthy </a:t>
            </a:r>
            <a:r>
              <a:rPr lang="en-US" sz="950" dirty="0" smtClean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growth. </a:t>
            </a: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top-line and bottom-line are improving YoY.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 —  FURNITURE: THE HIDDEN LIABILITY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732520" y="9144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generates 32% of total sales but only 6.4% of total profit</a:t>
            </a:r>
            <a:endParaRPr lang="en-US" sz="11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56032" y="1234440"/>
          <a:ext cx="612648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583680" y="1234440"/>
            <a:ext cx="2304288" cy="1024128"/>
          </a:xfrm>
          <a:prstGeom prst="rect">
            <a:avLst/>
          </a:prstGeom>
          <a:solidFill>
            <a:srgbClr val="1B2A4A"/>
          </a:solidFill>
          <a:ln w="1524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0" y="1234440"/>
            <a:ext cx="64008" cy="10241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93408" y="130759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693408" y="1618488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Sales: $836K  |  Profit: $145K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693408" y="187452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17.4%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583680" y="2423160"/>
            <a:ext cx="2304288" cy="1024128"/>
          </a:xfrm>
          <a:prstGeom prst="rect">
            <a:avLst/>
          </a:prstGeom>
          <a:solidFill>
            <a:srgbClr val="1B2A4A"/>
          </a:solidFill>
          <a:ln w="1524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83680" y="2423160"/>
            <a:ext cx="64008" cy="10241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93408" y="249631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693408" y="2807208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Sales: $719K  |  Profit: $122K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693408" y="306324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17.0%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583680" y="3611880"/>
            <a:ext cx="2304288" cy="1024128"/>
          </a:xfrm>
          <a:prstGeom prst="rect">
            <a:avLst/>
          </a:prstGeom>
          <a:solidFill>
            <a:srgbClr val="1B2A4A"/>
          </a:solidFill>
          <a:ln w="1524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583680" y="3611880"/>
            <a:ext cx="64008" cy="10241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93408" y="36850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693408" y="3995928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Sales: $742K  |  Profit: $18K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693408" y="425196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2.5%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56032" y="4709160"/>
            <a:ext cx="8631936" cy="27432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7472" y="4709160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Action Required: Tables sub-category alone lost $17,725. Furniture discounting policy must be urgently reviewed.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 —  DISCOUNTS DESTROY PROFITABILITY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732520" y="9144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with discounts above 20% generate negative profit on average</a:t>
            </a:r>
            <a:endParaRPr lang="en-US" sz="11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56032" y="1234440"/>
          <a:ext cx="612648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583680" y="1234440"/>
            <a:ext cx="2304288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0" y="1234440"/>
            <a:ext cx="64008" cy="7498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93408" y="1289304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Discount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693408" y="152704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$66.90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583680" y="2121408"/>
            <a:ext cx="2304288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83680" y="2121408"/>
            <a:ext cx="64008" cy="7498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93408" y="2176272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(0–20%)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693408" y="2414016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$26.50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583680" y="3008376"/>
            <a:ext cx="2304288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583680" y="3008376"/>
            <a:ext cx="64008" cy="7498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93408" y="306324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(20–40%)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693408" y="3300984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−$77.86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583680" y="3895344"/>
            <a:ext cx="2304288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583680" y="3895344"/>
            <a:ext cx="64008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93408" y="3950208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(40–80%)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693408" y="4187952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−$106.71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256032" y="4709160"/>
            <a:ext cx="8631936" cy="27432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47472" y="4709160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Business Rule: Cap all discounts at 20%. A strict policy could recover an estimated $45,000+ in annual profit.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  —  REGIONAL PERFORMANCE GAP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732520" y="9144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&amp; East generate 69% of total profit — Central is significantly underperforming</a:t>
            </a:r>
            <a:endParaRPr lang="en-US" sz="11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56032" y="1234440"/>
          <a:ext cx="612648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583680" y="1234440"/>
            <a:ext cx="2304288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0" y="123444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93408" y="128930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 West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693408" y="1636776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Profit: $108K   Margin: 14.9%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583680" y="2121408"/>
            <a:ext cx="2304288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83680" y="2121408"/>
            <a:ext cx="64008" cy="7498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93408" y="217627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 East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693408" y="2523744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Profit: $92K   Margin: 13.5%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583680" y="3008376"/>
            <a:ext cx="2304288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583680" y="3008376"/>
            <a:ext cx="64008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93408" y="30632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 South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693408" y="3410712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Profit: $47K   Margin: 11.9%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583680" y="3895344"/>
            <a:ext cx="2304288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583680" y="3895344"/>
            <a:ext cx="64008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93408" y="395020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  Central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693408" y="429768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Profit: $40K   Margin: 7.9%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56032" y="4709160"/>
            <a:ext cx="8631936" cy="27432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47472" y="4709160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Central sits at 7.9% margin vs West's 14.9% — nearly half the profitability on similar revenue.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  —  HYPOTHESIS TESTING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732520" y="9144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business findings with rigorous statistical tests  (α = 0.05)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6032" y="1234440"/>
            <a:ext cx="8631936" cy="438912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34440"/>
            <a:ext cx="84490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All 3 null hypotheses REJECTED  |  p &lt; 0.0001 in every test  |  99.99%+ confidence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6032" y="1810512"/>
            <a:ext cx="8631936" cy="905256"/>
          </a:xfrm>
          <a:prstGeom prst="rect">
            <a:avLst/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810512"/>
            <a:ext cx="73152" cy="9052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920240"/>
            <a:ext cx="80467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2024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298448" y="190195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Impact on Profit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98448" y="221284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Discounts have no significant effect on profit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98448" y="243230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significantly reduce profit margins. High-discount orders lose $106.71 avg vs $66.90 gain with no discount.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577840" y="192024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0.0001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06640" y="1956816"/>
            <a:ext cx="1353312" cy="566928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1956816"/>
            <a:ext cx="13533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6032" y="2834640"/>
            <a:ext cx="8631936" cy="905256"/>
          </a:xfrm>
          <a:prstGeom prst="rect">
            <a:avLst/>
          </a:prstGeom>
          <a:solidFill>
            <a:srgbClr val="1B2A4A"/>
          </a:solidFill>
          <a:ln w="1270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834640"/>
            <a:ext cx="73152" cy="90525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944368"/>
            <a:ext cx="804672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944368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CHI² TEST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298448" y="29260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vs Profit Zone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98448" y="323697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Category type is independent of profit outcome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298448" y="345643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type non-randomly and significantly drives profitability (χ² = 239.8, df = 2).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5577840" y="294436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0.0001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406640" y="2980944"/>
            <a:ext cx="1353312" cy="566928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06640" y="2980944"/>
            <a:ext cx="13533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6032" y="3858768"/>
            <a:ext cx="8631936" cy="905256"/>
          </a:xfrm>
          <a:prstGeom prst="rect">
            <a:avLst/>
          </a:prstGeom>
          <a:solidFill>
            <a:srgbClr val="1B2A4A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3858768"/>
            <a:ext cx="73152" cy="9052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3968496"/>
            <a:ext cx="80467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968496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298448" y="395020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vs Furniture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298448" y="426110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No difference in avg profit between Tech &amp; Furniture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298448" y="4480560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earns $78.4 avg profit/order vs only $8.5 for Furniture — proven at 99.99% confidence.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5577840" y="3968496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0.0001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406640" y="4005072"/>
            <a:ext cx="1353312" cy="566928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06640" y="4005072"/>
            <a:ext cx="13533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&amp; OPPORTUNITY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732520" y="9144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clear actions to save $90,000+ in profit every year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6032" y="1298448"/>
            <a:ext cx="2798064" cy="3218688"/>
          </a:xfrm>
          <a:prstGeom prst="rect">
            <a:avLst/>
          </a:prstGeom>
          <a:solidFill>
            <a:srgbClr val="1B2A4A"/>
          </a:solidFill>
          <a:ln w="1524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298448"/>
            <a:ext cx="2798064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98448" y="1389888"/>
            <a:ext cx="713232" cy="7132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8448" y="1408176"/>
            <a:ext cx="713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93192" y="2194560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All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to 20%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0624" y="2907792"/>
            <a:ext cx="246888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29260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Recovery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20624" y="314553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$45,000+ / year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3192" y="3657600"/>
            <a:ext cx="25237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discounts are losing us money — up to $107 on each order. Capping at 20% saves $45,000+ every year.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18688" y="1298448"/>
            <a:ext cx="2798064" cy="3218688"/>
          </a:xfrm>
          <a:prstGeom prst="rect">
            <a:avLst/>
          </a:prstGeom>
          <a:solidFill>
            <a:srgbClr val="1B2A4A"/>
          </a:solidFill>
          <a:ln w="1524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18688" y="1298448"/>
            <a:ext cx="2798064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61104" y="1389888"/>
            <a:ext cx="713232" cy="7132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61104" y="1408176"/>
            <a:ext cx="713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355848" y="2194560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Selling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383280" y="2907792"/>
            <a:ext cx="246888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29260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Recovery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83280" y="314553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$17,725 / year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355848" y="3657600"/>
            <a:ext cx="25237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lost $17,725 over 4 years. Stopping sales or repricing will turn this loss into profit immediately.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81344" y="1298448"/>
            <a:ext cx="2798064" cy="3218688"/>
          </a:xfrm>
          <a:prstGeom prst="rect">
            <a:avLst/>
          </a:prstGeom>
          <a:solidFill>
            <a:srgbClr val="1B2A4A"/>
          </a:solidFill>
          <a:ln w="1524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81344" y="1298448"/>
            <a:ext cx="2798064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3760" y="1389888"/>
            <a:ext cx="713232" cy="71323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1408176"/>
            <a:ext cx="713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18504" y="2194560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Region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345936" y="2907792"/>
            <a:ext cx="246888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45936" y="29260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Recovery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345936" y="314553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$30,000+ potential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18504" y="3657600"/>
            <a:ext cx="25237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earns 7.9% vs West's 14.9% on similar revenue. Better training can double Central's profits quickly.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6032" y="4709160"/>
            <a:ext cx="8631936" cy="27432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4709160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 smtClean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Combined </a:t>
            </a: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$90,000+ in extra profit we can recover every year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732520" y="9144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Data-backed action plan to drive profitability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6032" y="1298448"/>
            <a:ext cx="2798064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316736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" y="1572768"/>
            <a:ext cx="2798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" y="1865376"/>
            <a:ext cx="2798064" cy="2834640"/>
          </a:xfrm>
          <a:prstGeom prst="rect">
            <a:avLst/>
          </a:prstGeom>
          <a:solidFill>
            <a:srgbClr val="1B2A4A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" y="2029968"/>
            <a:ext cx="438912" cy="438912"/>
          </a:xfrm>
          <a:prstGeom prst="ellipse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0299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9264" y="2029968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20% discount ceiling across all categories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" y="3218688"/>
            <a:ext cx="438912" cy="438912"/>
          </a:xfrm>
          <a:prstGeom prst="ellipse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2186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9264" y="3218688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Tables sub-category for pricing review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18688" y="1298448"/>
            <a:ext cx="2798064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18688" y="1316736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18688" y="1572768"/>
            <a:ext cx="2798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Months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18688" y="1865376"/>
            <a:ext cx="2798064" cy="2834640"/>
          </a:xfrm>
          <a:prstGeom prst="rect">
            <a:avLst/>
          </a:prstGeom>
          <a:solidFill>
            <a:srgbClr val="1B2A4A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01568" y="2029968"/>
            <a:ext cx="438912" cy="438912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01568" y="20299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31920" y="2029968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targeted promotions in West &amp; East regions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01568" y="3218688"/>
            <a:ext cx="438912" cy="438912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01568" y="32186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931920" y="3218688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or reprice Bookcase SKUs with negative margin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81344" y="1298448"/>
            <a:ext cx="2798064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81344" y="1316736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81344" y="1572768"/>
            <a:ext cx="2798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3–12 Months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81344" y="1865376"/>
            <a:ext cx="2798064" cy="2834640"/>
          </a:xfrm>
          <a:prstGeom prst="rect">
            <a:avLst/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64224" y="2029968"/>
            <a:ext cx="438912" cy="438912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64224" y="20299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94576" y="2029968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Central region sales capability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64224" y="3218688"/>
            <a:ext cx="438912" cy="438912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64224" y="32186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94576" y="3218688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dynamic pricing model tied to margin thresholds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457200" y="18105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 —  Data Storytelling &amp; Statistical Validation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0" y="2304288"/>
            <a:ext cx="4572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514600"/>
            <a:ext cx="2423160" cy="1508760"/>
          </a:xfrm>
          <a:prstGeom prst="rect">
            <a:avLst/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514600"/>
            <a:ext cx="24231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33472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9,994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331012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Analyzed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(2014–2017)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2514600"/>
            <a:ext cx="2423160" cy="1508760"/>
          </a:xfrm>
          <a:prstGeom prst="rect">
            <a:avLst/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2514600"/>
            <a:ext cx="24231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2633472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246120" y="331012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Validated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 (p &lt; 0.001)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0" y="2514600"/>
            <a:ext cx="2423160" cy="1508760"/>
          </a:xfrm>
          <a:prstGeom prst="rect">
            <a:avLst/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0" y="2514600"/>
            <a:ext cx="24231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2633472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$90K+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943600" y="331012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Recovery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Identified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41879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https://github.com/sathyak29/Retail_Sales_Analysis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816</Words>
  <Application>Microsoft Office PowerPoint</Application>
  <PresentationFormat>On-screen Show (16:9)</PresentationFormat>
  <Paragraphs>169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Sales — Data Storytelling &amp; Statistical Validation</dc:title>
  <dc:subject>PptxGenJS Presentation</dc:subject>
  <dc:creator>PptxGenJS</dc:creator>
  <cp:lastModifiedBy>hp</cp:lastModifiedBy>
  <cp:revision>2</cp:revision>
  <dcterms:created xsi:type="dcterms:W3CDTF">2026-03-21T13:13:25Z</dcterms:created>
  <dcterms:modified xsi:type="dcterms:W3CDTF">2026-03-21T13:35:45Z</dcterms:modified>
</cp:coreProperties>
</file>